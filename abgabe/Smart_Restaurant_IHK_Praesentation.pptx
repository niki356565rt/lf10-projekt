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7814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467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lang="en-US" b="0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467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lang="en-US" b="0"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143859"/>
          </a:solidFill>
          <a:ln w="12700">
            <a:solidFill>
              <a:srgbClr val="14385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IHK-PROJEKTPRÄSENTATION  |  20 MINUTEN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Restaurant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05740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Digitales Bestell- und Verwaltungssystem für eine Gaststätte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Konzeption  •  UML-Prozessanalyse  •  3NF-Datenbank  •  Java 17 &amp; JDBC  •  ISMS (ISO 27001)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3063240"/>
            <a:ext cx="1645920" cy="868680"/>
          </a:xfrm>
          <a:prstGeom prst="roundRect">
            <a:avLst/>
          </a:prstGeom>
          <a:solidFill>
            <a:srgbClr val="0A2136"/>
          </a:solidFill>
          <a:ln w="15240">
            <a:solidFill>
              <a:srgbClr val="208B8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731520" y="31546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PROJEKTAUWAND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33832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 Std.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514600" y="3063240"/>
            <a:ext cx="1645920" cy="868680"/>
          </a:xfrm>
          <a:prstGeom prst="roundRect">
            <a:avLst/>
          </a:prstGeom>
          <a:solidFill>
            <a:srgbClr val="0A2136"/>
          </a:solidFill>
          <a:ln w="15240">
            <a:solidFill>
              <a:srgbClr val="208B8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2514600" y="31546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ENTWICKLUNGSDAUER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514600" y="33832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Tage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297680" y="3063240"/>
            <a:ext cx="1645920" cy="868680"/>
          </a:xfrm>
          <a:prstGeom prst="roundRect">
            <a:avLst/>
          </a:prstGeom>
          <a:solidFill>
            <a:srgbClr val="0A2136"/>
          </a:solidFill>
          <a:ln w="15240">
            <a:solidFill>
              <a:srgbClr val="208B8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4297680" y="31546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QUALITÄTSQUOTE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297680" y="33832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100 % Tests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75120" y="1188720"/>
            <a:ext cx="21945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AUFTRAGNEHMER:
</a:t>
            </a: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Another Great Solution GmbH
(Projektteam „Der Dreier“)
</a:t>
            </a: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AUFTRAGGEBER:
</a:t>
            </a: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Regionales Gastronomieunternehmen
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040880" y="4754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Seite 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2011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8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ÜBERBLICK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438912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 &amp; Gliederung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31520" y="896112"/>
            <a:ext cx="76809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47548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Restaurant – Digitales Bestell- und Verwaltungssystem  |  IHK-Projektpräsentation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040880" y="4754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Seite 2 / 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188720"/>
            <a:ext cx="246888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731520" y="1188720"/>
            <a:ext cx="2468880" cy="640080"/>
          </a:xfrm>
          <a:prstGeom prst="roundRect">
            <a:avLst/>
          </a:prstGeom>
          <a:solidFill>
            <a:srgbClr val="0D2B45"/>
          </a:solidFill>
          <a:ln w="12700">
            <a:solidFill>
              <a:srgbClr val="0D2B4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868680" y="12344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68680" y="19659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Projektrahmen &amp; Wirtschaftlichkeit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8680" y="2514600"/>
            <a:ext cx="2194560" cy="384048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932688" y="2587752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IST-Zustand vs. SOLL-Konzept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68680" y="2990088"/>
            <a:ext cx="2194560" cy="384048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932688" y="3063240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Make-or-Buy-Entscheidung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68680" y="3465576"/>
            <a:ext cx="2194560" cy="384048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932688" y="3538728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Phasen- &amp; Ressourcenplanung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68680" y="3941064"/>
            <a:ext cx="2194560" cy="384048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932688" y="4014216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Vollständige Kalkulation (320h)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337560" y="1188720"/>
            <a:ext cx="246888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3337560" y="1188720"/>
            <a:ext cx="2468880" cy="640080"/>
          </a:xfrm>
          <a:prstGeom prst="roundRect">
            <a:avLst/>
          </a:prstGeom>
          <a:solidFill>
            <a:srgbClr val="208B80"/>
          </a:solidFill>
          <a:ln w="12700">
            <a:solidFill>
              <a:srgbClr val="208B8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3474720" y="12344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74720" y="19659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Architektur &amp; Implementierung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474720" y="2514600"/>
            <a:ext cx="2194560" cy="384048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Text 26"/>
          <p:cNvSpPr/>
          <p:nvPr/>
        </p:nvSpPr>
        <p:spPr>
          <a:xfrm>
            <a:off x="3538728" y="2587752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UML-Geschäftsprozessmodellierung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4720" y="2990088"/>
            <a:ext cx="2194560" cy="384048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28"/>
          <p:cNvSpPr/>
          <p:nvPr/>
        </p:nvSpPr>
        <p:spPr>
          <a:xfrm>
            <a:off x="3538728" y="3063240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Datenbankmodellierung (3NF)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4720" y="3465576"/>
            <a:ext cx="2194560" cy="384048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Text 30"/>
          <p:cNvSpPr/>
          <p:nvPr/>
        </p:nvSpPr>
        <p:spPr>
          <a:xfrm>
            <a:off x="3538728" y="3538728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Java 17 DAO-Architektur &amp; SQL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474720" y="3941064"/>
            <a:ext cx="2194560" cy="384048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Text 32"/>
          <p:cNvSpPr/>
          <p:nvPr/>
        </p:nvSpPr>
        <p:spPr>
          <a:xfrm>
            <a:off x="3538728" y="4014216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GUI-Design &amp; Usability (ISO 9241)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943600" y="1188720"/>
            <a:ext cx="246888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6" name="Shape 34"/>
          <p:cNvSpPr/>
          <p:nvPr/>
        </p:nvSpPr>
        <p:spPr>
          <a:xfrm>
            <a:off x="5943600" y="1188720"/>
            <a:ext cx="2468880" cy="640080"/>
          </a:xfrm>
          <a:prstGeom prst="round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7" name="Text 35"/>
          <p:cNvSpPr/>
          <p:nvPr/>
        </p:nvSpPr>
        <p:spPr>
          <a:xfrm>
            <a:off x="6080760" y="12344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6080760" y="19659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Qualitätssicherung &amp; Projektabschluss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080760" y="2514600"/>
            <a:ext cx="2194560" cy="384048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1" name="Text 39"/>
          <p:cNvSpPr/>
          <p:nvPr/>
        </p:nvSpPr>
        <p:spPr>
          <a:xfrm>
            <a:off x="6144768" y="2587752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Automatisierte Testsuite (Java)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80760" y="2990088"/>
            <a:ext cx="2194560" cy="384048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3" name="Text 41"/>
          <p:cNvSpPr/>
          <p:nvPr/>
        </p:nvSpPr>
        <p:spPr>
          <a:xfrm>
            <a:off x="6144768" y="3063240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ISMS &amp; Security (ISO/IEC 27001)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080760" y="3465576"/>
            <a:ext cx="2194560" cy="384048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5" name="Text 43"/>
          <p:cNvSpPr/>
          <p:nvPr/>
        </p:nvSpPr>
        <p:spPr>
          <a:xfrm>
            <a:off x="6144768" y="3538728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Soll-Ist-Vergleich (Scope &amp; Budget)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80760" y="3941064"/>
            <a:ext cx="2194560" cy="384048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7" name="Text 45"/>
          <p:cNvSpPr/>
          <p:nvPr/>
        </p:nvSpPr>
        <p:spPr>
          <a:xfrm>
            <a:off x="6144768" y="4014216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Lessons Learned &amp; Ausblick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2011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8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PROJEKTRAHMEN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438912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Ausgangslage: Problemstellung &amp; Lösungsziel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31520" y="896112"/>
            <a:ext cx="76809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47548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Restaurant – Digitales Bestell- und Verwaltungssystem  |  IHK-Projektpräsentation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040880" y="4754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Seite 3 / 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188720"/>
            <a:ext cx="3749040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731520" y="1188720"/>
            <a:ext cx="3749040" cy="50292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12801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IST-ZUSTAND: Papiergebundene Risiken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1783080"/>
            <a:ext cx="1005840" cy="256032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914400" y="1819656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LESEFEHLER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914400" y="207568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Handschriftliche Bons unleserlich in Küche/Bar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14400" y="2441448"/>
            <a:ext cx="1005840" cy="256032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914400" y="2478024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LAUFWEGE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914400" y="2734056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Servicekräfte pendeln manuell zwischen Gast &amp; Küche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14400" y="3099816"/>
            <a:ext cx="1005840" cy="256032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914400" y="313639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VERZÖGERUNG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914400" y="3392424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der Zubereitung am Gasttisch unbekannt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14400" y="3758184"/>
            <a:ext cx="1005840" cy="256032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914400" y="379476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EINNAHMEVERLUST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914400" y="4050792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Verlorene Papierbons führen zu Abrechnungsfehlern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188720"/>
            <a:ext cx="3749040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4663440" y="1188720"/>
            <a:ext cx="3749040" cy="5029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4846320" y="12801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SOLL-KONZEPT: Zentrales Smart Restaurant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846320" y="1783080"/>
            <a:ext cx="1005840" cy="256032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Text 26"/>
          <p:cNvSpPr/>
          <p:nvPr/>
        </p:nvSpPr>
        <p:spPr>
          <a:xfrm>
            <a:off x="4846320" y="1819656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846320" y="207568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Strukturierte Bestellaufnahme direkt am Terminal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846320" y="2441448"/>
            <a:ext cx="1005840" cy="256032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4846320" y="2478024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ROUTING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846320" y="2734056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Automatisierte Trennung für Küche (Speisen) &amp; Bar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46320" y="3099816"/>
            <a:ext cx="1005840" cy="256032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Text 32"/>
          <p:cNvSpPr/>
          <p:nvPr/>
        </p:nvSpPr>
        <p:spPr>
          <a:xfrm>
            <a:off x="4846320" y="313639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ECHTZEIT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846320" y="3392424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Live-Statusanzeige: OFFEN ➔ IN ARBEIT ➔ SERVIERT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846320" y="3758184"/>
            <a:ext cx="1005840" cy="256032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7" name="Text 35"/>
          <p:cNvSpPr/>
          <p:nvPr/>
        </p:nvSpPr>
        <p:spPr>
          <a:xfrm>
            <a:off x="4846320" y="379476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REVISION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846320" y="4050792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protokollierte Buchungen &amp; fehlerfreie Rechnung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2011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8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WIRTSCHAFTLICHKEIT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438912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Make-or-Buy &amp; Betriebskosten-Vergleich (TCO)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31520" y="896112"/>
            <a:ext cx="76809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47548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Restaurant – Digitales Bestell- und Verwaltungssystem  |  IHK-Projektpräsentation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040880" y="4754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Seite 4 / 14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78992"/>
          <a:ext cx="7680960" cy="242316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38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Entscheidungskriterium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B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Eigenentwicklung (Make)  [GEWÄHLT]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8B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Branchen-SaaS (Buy)  [VERWORFEN]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74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Prozessgenauigkeit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✔  100 % passgenau auf Arbeitsabläufe zugeschnitten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✖  Standardisiert; erfordert Anpassung des Betriebs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Laufende Kosten p.a.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(Energie &amp; Lizenzen)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✔  ca. 443 € / Jahr (ca. 203 € Strom Server/Terminals + 240 € Wartung)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✖  ca. 2.244 € / Jahr (2.124 € Lizenz-Abo 3 Terminals + 120 € Strom)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Kumulierte TCO (3 Jahre)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✔  ca. 1.330 € laufend; Amortisation nach 18 Monaten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✖  ca. 6.732 € kumulierte Abokosten (Vendor-Lock-in)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Datensicherheit (DSGVO)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✔  Volle Datenhoheit im lokalen Betriebsnetzwerk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✖  Datenübertragung auf externe Cloud-Server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Erweiterbarkeit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✔  Offene Schnittstellen für TSE-Kassen &amp; Handhelds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✖  Abhängig vom Update-Zyklus des Drittanbieters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31520" y="3611880"/>
            <a:ext cx="7680960" cy="914400"/>
          </a:xfrm>
          <a:prstGeom prst="roundRect">
            <a:avLst/>
          </a:prstGeom>
          <a:solidFill>
            <a:srgbClr val="DCFCE7"/>
          </a:solidFill>
          <a:ln w="190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8"/>
          <p:cNvSpPr/>
          <p:nvPr/>
        </p:nvSpPr>
        <p:spPr>
          <a:xfrm>
            <a:off x="914400" y="3703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TCO-FAZIT: 1.801 € JÄHRLICHE BETRIEBSKOSTENERSPARNIS GEGENÜBER SAAS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914400" y="3959352"/>
            <a:ext cx="7315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Trotz Initialaufwand amortisiert sich das System schnell: Niedrige Stromkosten (ca. 203 €/Jahr für Server &amp; Terminals) und der Wegfall von monatlichen Lizenzgebühren sparen ab Jahr 4 über 1.800 € pro Jahr ein.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2011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8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WIRTSCHAFTLICHKEIT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438912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Ressourcen- &amp; Angebotskalkulation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31520" y="896112"/>
            <a:ext cx="76809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47548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Restaurant – Digitales Bestell- und Verwaltungssystem  |  IHK-Projektpräsentation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040880" y="4754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Seite 5 / 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74765" y="1003025"/>
            <a:ext cx="3631474" cy="368327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914400" y="117043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Phasenaufteilung (320 Stunden)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3291840" cy="1860369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20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Phase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5400" marR="25400" marT="12700" marB="127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Anteil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5400" marR="25400" marT="12700" marB="127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Aufwand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5400" marR="25400" marT="12700" marB="127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0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Phase 1: Analyse &amp; Anforderung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5400" marR="25400" marT="12700" marB="127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5 %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5400" marR="25400" marT="12700" marB="127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16 h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5400" marR="25400" marT="12700" marB="127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0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Phase 2: Prozessplanung (UML)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5400" marR="25400" marT="12700" marB="127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10 %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5400" marR="25400" marT="12700" marB="127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32 h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5400" marR="25400" marT="12700" marB="127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0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Phase 3: DB-Design (3NF)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5400" marR="25400" marT="12700" marB="127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15 %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5400" marR="25400" marT="12700" marB="127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48 h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5400" marR="25400" marT="12700" marB="127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0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Phase 4: Java-Implementierung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5400" marR="25400" marT="12700" marB="127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50 %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5400" marR="25400" marT="12700" marB="127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160 h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5400" marR="25400" marT="12700" marB="127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0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Phase 5: Qualitätssicherung &amp; Test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5400" marR="25400" marT="12700" marB="127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10 %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5400" marR="25400" marT="12700" marB="127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32 h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5400" marR="25400" marT="12700" marB="127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0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Phase 6: Dokumentation &amp; ISMS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5400" marR="25400" marT="12700" marB="127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10 %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5400" marR="25400" marT="12700" marB="127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32 h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5400" marR="25400" marT="12700" marB="127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914400" y="3355848"/>
            <a:ext cx="3017520" cy="903952"/>
          </a:xfrm>
          <a:prstGeom prst="roundRect">
            <a:avLst/>
          </a:prstGeom>
          <a:solidFill>
            <a:srgbClr val="F0F7FF"/>
          </a:solidFill>
          <a:ln w="9525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0"/>
          <p:cNvSpPr/>
          <p:nvPr/>
        </p:nvSpPr>
        <p:spPr>
          <a:xfrm>
            <a:off x="868680" y="337827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Sach- &amp; Betriebskosten im Projekt (500 €)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914400" y="3364992"/>
            <a:ext cx="31089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Stromkosten (4 PCs + Server): </a:t>
            </a:r>
            <a:r>
              <a:rPr lang="en-US" sz="72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64 kWh à 0,40 € ≈ 28 €
</a:t>
            </a:r>
            <a:r>
              <a:rPr lang="en-US" sz="72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Hardware &amp; Rechnerarbeitsplätze: </a:t>
            </a:r>
            <a:r>
              <a:rPr lang="en-US" sz="72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172 € (anteilig 10 Tage)
</a:t>
            </a:r>
            <a:r>
              <a:rPr lang="en-US" sz="72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Lizenzen, Diagramm-Tools &amp; Repo: </a:t>
            </a:r>
            <a:r>
              <a:rPr lang="en-US" sz="72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150 € + 50 € Ablage
</a:t>
            </a:r>
            <a:r>
              <a:rPr lang="en-US" sz="72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Unvorhergesehenes &amp; Puffer: </a:t>
            </a:r>
            <a:r>
              <a:rPr lang="en-US" sz="72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100 €
</a:t>
            </a:r>
            <a:r>
              <a:rPr lang="en-US" sz="720" b="1" dirty="0">
                <a:solidFill>
                  <a:srgbClr val="208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Gemeinkosten (2.980 €): </a:t>
            </a:r>
            <a:r>
              <a:rPr lang="en-US" sz="720" dirty="0">
                <a:solidFill>
                  <a:srgbClr val="208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Raummiete, Heizung, Büro-Strom</a:t>
            </a:r>
            <a:endParaRPr lang="en-US" sz="720" dirty="0"/>
          </a:p>
        </p:txBody>
      </p:sp>
      <p:sp>
        <p:nvSpPr>
          <p:cNvPr id="15" name="Shape 12"/>
          <p:cNvSpPr/>
          <p:nvPr/>
        </p:nvSpPr>
        <p:spPr>
          <a:xfrm>
            <a:off x="4297679" y="1005839"/>
            <a:ext cx="4219303" cy="368327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3"/>
          <p:cNvSpPr/>
          <p:nvPr/>
        </p:nvSpPr>
        <p:spPr>
          <a:xfrm>
            <a:off x="4572000" y="11704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Kalkulationsschema (IHK-Zuschlagskalkulation)</a:t>
            </a:r>
            <a:endParaRPr lang="en-US" sz="11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463040"/>
          <a:ext cx="3840480" cy="29718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Kostenposition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Berechnungsgrundlage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Betrag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Personalkosten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320 h × 45,00 € Ø Stundensatz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14.400,00 €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Sach- &amp; Betriebskosten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Inkl. Strom (28 €), Hardware &amp; Tools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500,00 €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Herstellkosten (HK)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Personal + Sachkosten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14.900,00 €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Gemeinkostenzuschlag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+ 20 % (inkl. Raum, Heizung, Energie)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2.980,00 €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Selbstkosten (SK)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HK + Gemeinkosten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17.880,00 €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Gewinnzuschlag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+ 10 % auf Selbstkosten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1.788,00 €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Angebotspreis (Netto)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Selbstkosten + Gewinn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19.668,00 €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Umsatzsteuer (19 %)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Gesetzliche Mehrwertsteuer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3.736,92 €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Angebotspreis (Brutto)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Gesamtangebot für Kunden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23.404,92 €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2011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8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ENTWURF &amp; MODELLIERUNG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438912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Geschäftsprozess: Ablauf in UML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31520" y="896112"/>
            <a:ext cx="76809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47548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Restaurant – Digitales Bestell- und Verwaltungssystem  |  IHK-Projektpräsentation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040880" y="4754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Seite 6 / 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143000"/>
            <a:ext cx="3931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731520" y="1143000"/>
            <a:ext cx="502920" cy="749808"/>
          </a:xfrm>
          <a:prstGeom prst="roundRect">
            <a:avLst/>
          </a:prstGeom>
          <a:solidFill>
            <a:srgbClr val="208B80"/>
          </a:solidFill>
          <a:ln w="12700">
            <a:solidFill>
              <a:srgbClr val="208B8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731520" y="134416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325880" y="1216152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Bestellaufnahme am Tisch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325880" y="1472184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Auswahl Gasttisch, Erfassung Speisen/Getränke, atomare Transaktion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31520" y="1984248"/>
            <a:ext cx="3931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1984248"/>
            <a:ext cx="502920" cy="749808"/>
          </a:xfrm>
          <a:prstGeom prst="roundRect">
            <a:avLst/>
          </a:prstGeom>
          <a:solidFill>
            <a:srgbClr val="208B80"/>
          </a:solidFill>
          <a:ln w="12700">
            <a:solidFill>
              <a:srgbClr val="208B8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731520" y="2185416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25880" y="205740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Automatisches Routing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325880" y="231343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Sofortige Trennung: Speisen an Küche, Getränke an Bar-Display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31520" y="2825496"/>
            <a:ext cx="3931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731520" y="2825496"/>
            <a:ext cx="502920" cy="749808"/>
          </a:xfrm>
          <a:prstGeom prst="roundRect">
            <a:avLst/>
          </a:prstGeom>
          <a:solidFill>
            <a:srgbClr val="208B80"/>
          </a:solidFill>
          <a:ln w="12700">
            <a:solidFill>
              <a:srgbClr val="208B8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731520" y="3026664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325880" y="2898648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Zubereitung &amp; Signal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325880" y="315468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Küche markiert »FERTIG«; automatischer Hinweis an Servicekraft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31520" y="3666744"/>
            <a:ext cx="3931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731520" y="3666744"/>
            <a:ext cx="502920" cy="749808"/>
          </a:xfrm>
          <a:prstGeom prst="roundRect">
            <a:avLst/>
          </a:prstGeom>
          <a:solidFill>
            <a:srgbClr val="208B80"/>
          </a:solidFill>
          <a:ln w="12700">
            <a:solidFill>
              <a:srgbClr val="208B8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731520" y="386791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325880" y="3739896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Servieren &amp; Abrechnung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325880" y="3995928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Servieren der Positionen, Rechnungsdruck &amp; Tischfreigabe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754881" y="1038501"/>
            <a:ext cx="3833948" cy="3533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30" name="Image 0" descr="C:\Users\JohannesKirk\.cursor\plans\Projektarbeit\docs\07-uml-aktivitaetsdiagramm-bestellprozes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83480" y="1225296"/>
            <a:ext cx="338328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2011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8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DATENBANK-DESIGN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438912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Relationales Datenmodell (3NF) &amp; SQL-DDL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31520" y="896112"/>
            <a:ext cx="76809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47548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Restaurant – Digitales Bestell- und Verwaltungssystem  |  IHK-Projektpräsentation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040880" y="4754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Seite 7 / 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024128"/>
            <a:ext cx="246888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822960" y="106070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1NF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53312" y="106984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08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Atomare Werte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298448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Spalten; keine Aufzählungen.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337560" y="1024128"/>
            <a:ext cx="246888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3429000" y="106070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2NF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59352" y="106984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08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Voll funktional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298448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Keine Teilabhängigkeit vom Primärschlüssel.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943600" y="1024128"/>
            <a:ext cx="24688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6035040" y="106070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3NF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65392" y="106984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08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Transitivfrei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035040" y="1298448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Keine Abhängigkeiten unter Nicht-Schlüsseln.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31520" y="1719072"/>
            <a:ext cx="379476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868680" y="1792224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Relationales Schema (Kern-Tabellen)</a:t>
            </a:r>
            <a:endParaRPr lang="en-US" sz="10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084832"/>
          <a:ext cx="3566160" cy="1755648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Tabelle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PK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Integritätsregeln &amp; Constraints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mitarbeiter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id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UNIQUE(login), hash(pw)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tisch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id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UNIQUE(nummer), status_check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artikel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id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kategorie_id, preis &gt;= 0.00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bestellung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id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FK(tisch), FK(mitarbeiter)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bestellpos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id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FK(bestellung), FK(artikel), menge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841248" y="3985478"/>
            <a:ext cx="3566160" cy="347472"/>
          </a:xfrm>
          <a:prstGeom prst="roundRect">
            <a:avLst/>
          </a:prstGeom>
          <a:solidFill>
            <a:srgbClr val="DCFCE7"/>
          </a:solidFill>
          <a:ln w="9525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2"/>
          <p:cNvSpPr/>
          <p:nvPr/>
        </p:nvSpPr>
        <p:spPr>
          <a:xfrm>
            <a:off x="868680" y="4040342"/>
            <a:ext cx="351129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3NF-Vorteil: 0 % Redundanz &amp; keine Update-Anomalien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709160" y="1719072"/>
            <a:ext cx="3703320" cy="2834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Shape 24"/>
          <p:cNvSpPr/>
          <p:nvPr/>
        </p:nvSpPr>
        <p:spPr>
          <a:xfrm>
            <a:off x="4709160" y="1719072"/>
            <a:ext cx="3703320" cy="320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5"/>
          <p:cNvSpPr/>
          <p:nvPr/>
        </p:nvSpPr>
        <p:spPr>
          <a:xfrm>
            <a:off x="4818888" y="1828800"/>
            <a:ext cx="100584" cy="100584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9" name="Shape 26"/>
          <p:cNvSpPr/>
          <p:nvPr/>
        </p:nvSpPr>
        <p:spPr>
          <a:xfrm>
            <a:off x="4965192" y="1828800"/>
            <a:ext cx="100584" cy="100584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0" name="Shape 27"/>
          <p:cNvSpPr/>
          <p:nvPr/>
        </p:nvSpPr>
        <p:spPr>
          <a:xfrm>
            <a:off x="5111496" y="1828800"/>
            <a:ext cx="100584" cy="10058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1" name="Text 28"/>
          <p:cNvSpPr/>
          <p:nvPr/>
        </p:nvSpPr>
        <p:spPr>
          <a:xfrm>
            <a:off x="5303520" y="1773936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schema_3nf.sql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4873752" y="2121408"/>
            <a:ext cx="3374136" cy="2359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</a:t>
            </a:r>
            <a:r>
              <a:rPr lang="en-US" sz="7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bestellposition (
</a:t>
            </a: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pos_id      </a:t>
            </a:r>
            <a:r>
              <a:rPr lang="en-US" sz="750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INTEGER PRIMARY KEY,
</a:t>
            </a: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bestell_id  </a:t>
            </a:r>
            <a:r>
              <a:rPr lang="en-US" sz="750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INTEGER NOT NULL,
</a:t>
            </a: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artikel_id  </a:t>
            </a:r>
            <a:r>
              <a:rPr lang="en-US" sz="750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INTEGER NOT NULL,
</a:t>
            </a: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menge       </a:t>
            </a:r>
            <a:r>
              <a:rPr lang="en-US" sz="750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CHECK(menge &gt; 0),
</a:t>
            </a: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einzelpreis </a:t>
            </a:r>
            <a:r>
              <a:rPr lang="en-US" sz="7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DECIMAL(10,2) NOT NULL,
</a:t>
            </a:r>
            <a:r>
              <a:rPr lang="en-US" sz="750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FOREIGN KEY</a:t>
            </a: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(bestell_id)</a:t>
            </a:r>
            <a:endParaRPr lang="en-US" sz="7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7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REFERENCES bestellung(id),
</a:t>
            </a:r>
            <a:r>
              <a:rPr lang="en-US" sz="750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FOREIGN KEY</a:t>
            </a: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(artikel_id)</a:t>
            </a:r>
            <a:endParaRPr lang="en-US" sz="7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7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REFERENCES artikel(id)</a:t>
            </a:r>
            <a:endParaRPr lang="en-US" sz="7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2011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8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SOFTWARE-ARCHITEKTUR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438912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 17-Architektur: DAO-Pattern &amp; Prepared SQL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31520" y="896112"/>
            <a:ext cx="76809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47548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Restaurant – Digitales Bestell- und Verwaltungssystem  |  IHK-Projektpräsentation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040880" y="4754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Seite 8 / 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15982" y="1033271"/>
            <a:ext cx="3964577" cy="363016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0" name="Image 0" descr="C:\Users\JohannesKirk\.cursor\plans\Projektarbeit\docs\16-klassendiagramm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" y="1234440"/>
            <a:ext cx="3566160" cy="32004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663440" y="1143000"/>
            <a:ext cx="3749040" cy="33832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9"/>
          <p:cNvSpPr/>
          <p:nvPr/>
        </p:nvSpPr>
        <p:spPr>
          <a:xfrm>
            <a:off x="4663440" y="1143000"/>
            <a:ext cx="3749040" cy="320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0"/>
          <p:cNvSpPr/>
          <p:nvPr/>
        </p:nvSpPr>
        <p:spPr>
          <a:xfrm>
            <a:off x="4773168" y="1252728"/>
            <a:ext cx="100584" cy="100584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4" name="Shape 11"/>
          <p:cNvSpPr/>
          <p:nvPr/>
        </p:nvSpPr>
        <p:spPr>
          <a:xfrm>
            <a:off x="4919472" y="1252728"/>
            <a:ext cx="100584" cy="100584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Shape 12"/>
          <p:cNvSpPr/>
          <p:nvPr/>
        </p:nvSpPr>
        <p:spPr>
          <a:xfrm>
            <a:off x="5065776" y="1252728"/>
            <a:ext cx="100584" cy="10058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3"/>
          <p:cNvSpPr/>
          <p:nvPr/>
        </p:nvSpPr>
        <p:spPr>
          <a:xfrm>
            <a:off x="5257800" y="1197864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DatabaseManager.java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828032" y="1545336"/>
            <a:ext cx="3419856" cy="29077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75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DatabaseManager.java - Transaktionskapselung
</a:t>
            </a:r>
            <a:r>
              <a:rPr lang="en-US" sz="750" b="1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</a:t>
            </a:r>
            <a:r>
              <a:rPr lang="en-US" sz="7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bucheBestellung(</a:t>
            </a:r>
            <a:r>
              <a:rPr lang="en-US" sz="750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tischId, </a:t>
            </a:r>
            <a:r>
              <a:rPr lang="en-US" sz="750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maId)</a:t>
            </a:r>
            <a:endParaRPr lang="en-US" sz="7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7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throws </a:t>
            </a:r>
            <a:r>
              <a:rPr lang="en-US" sz="7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SQLException {
</a:t>
            </a: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String sql = </a:t>
            </a:r>
            <a:r>
              <a:rPr lang="en-US" sz="7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"INSERT INTO bestellung "</a:t>
            </a:r>
            <a:endParaRPr lang="en-US" sz="7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+ </a:t>
            </a:r>
            <a:endParaRPr lang="en-US" sz="7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"(tisch_id, ma_id, status) "</a:t>
            </a:r>
            <a:endParaRPr lang="en-US" sz="7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+ </a:t>
            </a:r>
            <a:endParaRPr lang="en-US" sz="7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"VALUES (?, ?, 'OFFEN')";
</a:t>
            </a:r>
            <a:r>
              <a:rPr lang="en-US" sz="750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 (PreparedStatement </a:t>
            </a: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 = 
            conn.prepareStatement(sql)) {
        ps.setInt(1, tischId);  </a:t>
            </a:r>
            <a:r>
              <a:rPr lang="en-US" sz="75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Parametrisiert
</a:t>
            </a: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ps.setInt(2, maId);     </a:t>
            </a:r>
            <a:r>
              <a:rPr lang="en-US" sz="75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Injection-Safe
</a:t>
            </a: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ps.executeUpdate();
    }</a:t>
            </a:r>
            <a:endParaRPr lang="en-US" sz="7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2011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8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 &amp; PRAXIS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438912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Benutzeroberfläche &amp; Usability (ISO 9241-110)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31520" y="896112"/>
            <a:ext cx="76809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47548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Restaurant – Digitales Bestell- und Verwaltungssystem  |  IHK-Projektpräsentation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040880" y="4754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Seite 9 / 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143000"/>
            <a:ext cx="24688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868680" y="1280160"/>
            <a:ext cx="1097280" cy="237744"/>
          </a:xfrm>
          <a:prstGeom prst="roundRect">
            <a:avLst/>
          </a:prstGeom>
          <a:solidFill>
            <a:srgbClr val="E0F2FE"/>
          </a:solidFill>
          <a:ln w="635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868680" y="1307592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SERVICE-DESK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868680" y="16002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Tischplan &amp; Schnellauswahl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2103120"/>
            <a:ext cx="2194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Farbliche Tischzustände (Frei/Belegt)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1-Klick-Auswahl zur Bestellaufnahme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Direkte Zuweisung an Bedienung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337560" y="1143000"/>
            <a:ext cx="24688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3474720" y="1280160"/>
            <a:ext cx="1097280" cy="237744"/>
          </a:xfrm>
          <a:prstGeom prst="roundRect">
            <a:avLst/>
          </a:prstGeom>
          <a:solidFill>
            <a:srgbClr val="E0F2FE"/>
          </a:solidFill>
          <a:ln w="635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3474720" y="1307592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STAMMDATEN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474720" y="16002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Artikel- &amp; Speisekarten-Manager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74720" y="2103120"/>
            <a:ext cx="2194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Kategorien: Vorspeise, Hauptgang, Bar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Echtzeit-Validierung vor Speicherung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Sofortige Verfügbarkeitsumschaltung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943600" y="1143000"/>
            <a:ext cx="24688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6080760" y="1280160"/>
            <a:ext cx="1097280" cy="237744"/>
          </a:xfrm>
          <a:prstGeom prst="roundRect">
            <a:avLst/>
          </a:prstGeom>
          <a:solidFill>
            <a:srgbClr val="E0F2FE"/>
          </a:solidFill>
          <a:ln w="635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6080760" y="1307592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MANAGEMENT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080760" y="16002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Live-Monitor &amp; Abrechnung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080760" y="2103120"/>
            <a:ext cx="2194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Übersicht aller aktiven Küchenbons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Summenkalkulation mit MwSt.-Split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Revisionssicherer Rechnungsabschluss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31520" y="3429000"/>
            <a:ext cx="7680960" cy="1097280"/>
          </a:xfrm>
          <a:prstGeom prst="roundRect">
            <a:avLst/>
          </a:prstGeom>
          <a:solidFill>
            <a:srgbClr val="F0F7FF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914400" y="35478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UMSETZUNG DER ERGONOMIE-GRUNDSÄTZE (DIN EN ISO 9241-110)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14400" y="3822192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08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Aufgabenangemessenheit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14400" y="404164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Maximal 2 Klicks zur Bestellauslösung im Stoßbetrieb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429000" y="3822192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08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Fehlertoleranz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429000" y="404164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fängt negative Preise und falsche Typen sofort ab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943600" y="3822192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08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Erwartungskonformität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943600" y="404164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Standardisierte Menüstrukturen und Farbkodierungen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2011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8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QUALITÄTSMANAGEMENT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438912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Automatisierte Qualitätssicherung &amp; Testcode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31520" y="896112"/>
            <a:ext cx="76809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47548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Restaurant – Digitales Bestell- und Verwaltungssystem  |  IHK-Projektpräsentation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040880" y="4754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Seite 10 / 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1703" y="1142999"/>
            <a:ext cx="3735977" cy="343551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822960" y="1307592"/>
            <a:ext cx="3200400" cy="640080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822960" y="13716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100 % ERFOLGSQUOTE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167335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Alle CRUD- und Integritätstests fehlerfrei durchlaufen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415459"/>
              </p:ext>
            </p:extLst>
          </p:nvPr>
        </p:nvGraphicFramePr>
        <p:xfrm>
          <a:off x="731520" y="2084832"/>
          <a:ext cx="3383280" cy="2240280"/>
        </p:xfrm>
        <a:graphic>
          <a:graphicData uri="http://schemas.openxmlformats.org/drawingml/2006/table">
            <a:tbl>
              <a:tblPr/>
              <a:tblGrid>
                <a:gridCol w="8458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58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5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58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33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ID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Testfall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Prüfziel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Ergebnis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TC-01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Schema Init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PK/FK Validierung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BESTANDEN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TC-02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SQL Injection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Maskierung Eingaben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BESTANDEN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TC-03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Bestellablauf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Statuswechsel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BESTANDEN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TC-04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Constraint FK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Tisch-Integrität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BESTANDEN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TC-05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Rollback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Abbruch-Sicherheit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BESTANDEN</a:t>
                      </a:r>
                      <a:endParaRPr lang="en-US" sz="7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480560" y="1143000"/>
            <a:ext cx="3931920" cy="33832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2"/>
          <p:cNvSpPr/>
          <p:nvPr/>
        </p:nvSpPr>
        <p:spPr>
          <a:xfrm>
            <a:off x="4480560" y="1143000"/>
            <a:ext cx="3931920" cy="320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3"/>
          <p:cNvSpPr/>
          <p:nvPr/>
        </p:nvSpPr>
        <p:spPr>
          <a:xfrm>
            <a:off x="4590288" y="1252728"/>
            <a:ext cx="100584" cy="100584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Shape 14"/>
          <p:cNvSpPr/>
          <p:nvPr/>
        </p:nvSpPr>
        <p:spPr>
          <a:xfrm>
            <a:off x="4736592" y="1252728"/>
            <a:ext cx="100584" cy="100584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Shape 15"/>
          <p:cNvSpPr/>
          <p:nvPr/>
        </p:nvSpPr>
        <p:spPr>
          <a:xfrm>
            <a:off x="4882896" y="1252728"/>
            <a:ext cx="100584" cy="10058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9" name="Text 16"/>
          <p:cNvSpPr/>
          <p:nvPr/>
        </p:nvSpPr>
        <p:spPr>
          <a:xfrm>
            <a:off x="5074920" y="1197864"/>
            <a:ext cx="3246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DatabaseTest.java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645152" y="1545336"/>
            <a:ext cx="3602736" cy="29077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75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DatabaseTest.java - Testsuite
</a:t>
            </a:r>
            <a:r>
              <a:rPr lang="en-US" sz="750" b="1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static void </a:t>
            </a:r>
            <a:r>
              <a:rPr lang="en-US" sz="7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testIntegritaet() {
</a:t>
            </a: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DatabaseManager db = new DatabaseManager();
</a:t>
            </a:r>
            <a:r>
              <a:rPr lang="en-US" sz="75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Test: SQL Injection-Resistenz
</a:t>
            </a: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String inject = </a:t>
            </a:r>
            <a:r>
              <a:rPr lang="en-US" sz="7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"Gast'; DROP TABLE bestellung;--";
</a:t>
            </a: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boolean maOk = db.erstelleMitarbeiter(
        inject, "hacker", "Service");
</a:t>
            </a:r>
            <a:r>
              <a:rPr lang="en-US" sz="750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maOk : </a:t>
            </a:r>
            <a:r>
              <a:rPr lang="en-US" sz="7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"Maskierung fehlgeschlagen";
</a:t>
            </a:r>
            <a:r>
              <a:rPr lang="en-US" sz="75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Test: Fremdschlüssel-Prüfung
</a:t>
            </a: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boolean tischOk = db.tischExistiert(999);
</a:t>
            </a:r>
            <a:r>
              <a:rPr lang="en-US" sz="750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!tischOk : </a:t>
            </a:r>
            <a:r>
              <a:rPr lang="en-US" sz="7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"Ungültiger FK akzeptiert";
</a:t>
            </a: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System.out.println("100% Tests OK!");</a:t>
            </a:r>
            <a:endParaRPr lang="en-US" sz="7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2011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8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SICHERHEIT &amp; ISMS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438912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IT-Sicherheit, ISMS &amp; Compliance (ISO 27001)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31520" y="896112"/>
            <a:ext cx="76809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47548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Restaurant – Digitales Bestell- und Verwaltungssystem  |  IHK-Projektpräsentation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040880" y="4754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Seite 11 / 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143000"/>
            <a:ext cx="374904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868680" y="123444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 A.5 &amp; A.8: Zugriffssteuerung (RBAC)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68680" y="1527048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Rollenmodell: Servicekräfte buchen Tische; Artikelpreise und Stammdaten nur durch Admin editierbar.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31520" y="2258568"/>
            <a:ext cx="374904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868680" y="235000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 A.8.24: Passwortsicherheit (PBKDF2)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68680" y="2642616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Keine Klartextpasswörter. Kryptographische Salting- und Hashing-Verfahren verhindern Credential-Leaks.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3374136"/>
            <a:ext cx="374904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868680" y="3465576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 A.8.12: Datensicherung &amp; RPO/RTO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68680" y="3758184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Täglicher SQL-Export (smart_restaurant_dump.sql). Wiederanlaufzeit (RTO) unter 60 Minuten gewährleistet.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663440" y="1143000"/>
            <a:ext cx="3749040" cy="33832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4663440" y="1143000"/>
            <a:ext cx="3749040" cy="320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4773168" y="1252728"/>
            <a:ext cx="100584" cy="100584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1" name="Shape 19"/>
          <p:cNvSpPr/>
          <p:nvPr/>
        </p:nvSpPr>
        <p:spPr>
          <a:xfrm>
            <a:off x="4919472" y="1252728"/>
            <a:ext cx="100584" cy="100584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2" name="Shape 20"/>
          <p:cNvSpPr/>
          <p:nvPr/>
        </p:nvSpPr>
        <p:spPr>
          <a:xfrm>
            <a:off x="5065776" y="1252728"/>
            <a:ext cx="100584" cy="10058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5257800" y="1197864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SecurityUtil.java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828032" y="1545336"/>
            <a:ext cx="3419856" cy="29077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75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Security-Implementierung (Passwort-Hash)
</a:t>
            </a:r>
            <a:r>
              <a:rPr lang="en-US" sz="750" b="1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static String </a:t>
            </a:r>
            <a:r>
              <a:rPr lang="en-US" sz="7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hashPassword(</a:t>
            </a: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pw, byte[] salt) {
    KeySpec spec = new PBEKeySpec(
        pw.toCharArray(), salt, 65536, 256);
    SecretKeyFactory factory = 
        SecretKeyFactory.getInstance(
</a:t>
            </a:r>
            <a:r>
              <a:rPr lang="en-US" sz="7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"PBKDF2WithHmacSHA256");
</a:t>
            </a: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byte[] hash = factory
        .generateSecret(spec).getEncoded();
</a:t>
            </a:r>
            <a:r>
              <a:rPr lang="en-US" sz="750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Base64.getEncoder()
</a:t>
            </a: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.encodeToString(hash);</a:t>
            </a:r>
            <a:endParaRPr lang="en-US" sz="7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2011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8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PROJEKTABSCHLUSS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438912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Soll-Ist-Vergleich &amp; Projektcontrolling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31520" y="896112"/>
            <a:ext cx="76809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47548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Restaurant – Digitales Bestell- und Verwaltungssystem  |  IHK-Projektpräsentation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040880" y="4754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Seite 12 / 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143000"/>
            <a:ext cx="246888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731520" y="123444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FUNKTIONSUMFANG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31520" y="14630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100 %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" y="201168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von 26 Anforderungen erfüllt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337560" y="1143000"/>
            <a:ext cx="246888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08B8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3337560" y="123444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ZEITAUFWAND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337560" y="14630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08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 h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337560" y="201168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Tage exakt eingehalten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943600" y="1143000"/>
            <a:ext cx="246888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2B4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5943600" y="123444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HERSTELLKOSTEN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943600" y="14630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14.900 €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943600" y="201168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Punktlandung im Budgetrahmen</a:t>
            </a:r>
            <a:endParaRPr lang="en-US" sz="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606040"/>
          <a:ext cx="7680960" cy="192024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Dimension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Plan (SOLL)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Ist-Ergebnis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Abweichungsursache &amp; Gegenmaßnahme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Swing Table-GUI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40 h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48 h (+8h)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Tabellen-Renderer komplexer; voll kompensiert durch schnelle DB-Modellierung (-8h).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Qualitätstests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Manuell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Automatisiert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Zusätzlicher Java-Testrunner erstellt ➔ 100% Regressionsschutz ohne Mehrzeit.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Dokumentation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Basisberichte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Fachberichte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Zusätzlich ISMS-Dokumentation (ISO 27001) und Tagebuch nach mdc-Regel gepflegt.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2011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8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AUSBLICK &amp; ROADMAP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438912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Lessons Learned &amp; Zukunftsausblick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31520" y="896112"/>
            <a:ext cx="76809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47548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Restaurant – Digitales Bestell- und Verwaltungssystem  |  IHK-Projektpräsentation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040880" y="4754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Seite 13 / 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143000"/>
            <a:ext cx="37490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914400" y="12801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Erkenntnisse &amp; Lessons Learned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14400" y="169164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8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Parallele Dokumentationsführung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1947672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 Führen des Projekttagebuchs parallel zu den Sprints verhinderte Last-Minute-Stress.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914400" y="256032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8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Strikte Schichtentrennung (DAO)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14400" y="2816352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Die Entkopplung von GUI und SQL erlaubte gleichzeitiges Arbeiten an Backend und Frontend.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914400" y="342900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8B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Automatisierte Tests ab Tag 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4400" y="3685032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Frühzeitige Integritätstests verhinderten logische Datenfehler vor dem GUI-Test.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663440" y="1143000"/>
            <a:ext cx="37490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4846320" y="12801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Roadmap &amp; Erweiterungspotenzial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46320" y="1691640"/>
            <a:ext cx="777240" cy="219456"/>
          </a:xfrm>
          <a:prstGeom prst="roundRect">
            <a:avLst/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4846320" y="1719072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715000" y="167335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 Kellner-Handhelds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846320" y="1984248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Web- &amp; Tablet-Interface zur direkten Aufnahme am Gästetisch.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846320" y="2560320"/>
            <a:ext cx="777240" cy="219456"/>
          </a:xfrm>
          <a:prstGeom prst="roundRect">
            <a:avLst/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4846320" y="2587752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3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5715000" y="254203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KassenSichV &amp; TSE-Hardware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846320" y="2852928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Integration einer zertifizierten Sicherheitseinrichtung für Belege.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846320" y="3429000"/>
            <a:ext cx="777240" cy="219456"/>
          </a:xfrm>
          <a:prstGeom prst="roundRect">
            <a:avLst/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Text 26"/>
          <p:cNvSpPr/>
          <p:nvPr/>
        </p:nvSpPr>
        <p:spPr>
          <a:xfrm>
            <a:off x="4846320" y="3456432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4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715000" y="341071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2B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Küchen-Monitor-System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46320" y="3721608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Touchscreen-Terminals für Köche mit Farbstatus und akustischem Signal.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08B8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PROJEKTABSCHLUSS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Vielen Dank für Ihre Aufmerksamkeit!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196596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Wir freuen uns auf Ihre Fragen im IHK-Fachgespräch.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97280" y="2606040"/>
            <a:ext cx="6949440" cy="1874520"/>
          </a:xfrm>
          <a:prstGeom prst="roundRect">
            <a:avLst/>
          </a:prstGeom>
          <a:solidFill>
            <a:srgbClr val="0A2136"/>
          </a:solidFill>
          <a:ln w="15240">
            <a:solidFill>
              <a:srgbClr val="208B8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1371600" y="274320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Vollständige Projektdokumentation liegt vor: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371600" y="306324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Projekttagebuch (chronologisch nach mdc-Regel)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71600" y="331927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Entwicklerdokumentation (Java 17, Swing, SQL &amp; Tests)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371600" y="3575304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Benutzerdokumentation &amp; Rollenhandbuch (Gastronomie)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71600" y="3831336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SQL-Datenbankdump &amp; Automatisierte Testsuite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040880" y="4754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Seite 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1869</Words>
  <Application>Microsoft Office PowerPoint</Application>
  <PresentationFormat>Bildschirmpräsentation (16:9)</PresentationFormat>
  <Paragraphs>360</Paragraphs>
  <Slides>14</Slides>
  <Notes>14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8" baseType="lpstr">
      <vt:lpstr>Arial</vt:lpstr>
      <vt:lpstr>Consolas</vt:lpstr>
      <vt:lpstr>Segoe UI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Another Great Solution GmbH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Restaurant - IHK Projektpräsentation</dc:title>
  <dc:subject>Digitales Bestell- und Verwaltungssystem</dc:subject>
  <dc:creator>Another Great Solution GmbH (Team Der Dreier)</dc:creator>
  <cp:lastModifiedBy>Johannes Kirk</cp:lastModifiedBy>
  <cp:revision>2</cp:revision>
  <dcterms:created xsi:type="dcterms:W3CDTF">2026-10-01T10:38:50Z</dcterms:created>
  <dcterms:modified xsi:type="dcterms:W3CDTF">2026-10-01T10:43:40Z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841424d-a56e-4be6-8bd0-627260e09bd6_Enabled">
    <vt:lpwstr>true</vt:lpwstr>
  </property>
  <property fmtid="{D5CDD505-2E9C-101B-9397-08002B2CF9AE}" pid="3" name="MSIP_Label_7841424d-a56e-4be6-8bd0-627260e09bd6_SetDate">
    <vt:lpwstr>2026-10-01T10:43:40Z</vt:lpwstr>
  </property>
  <property fmtid="{D5CDD505-2E9C-101B-9397-08002B2CF9AE}" pid="4" name="MSIP_Label_7841424d-a56e-4be6-8bd0-627260e09bd6_Method">
    <vt:lpwstr>Standard</vt:lpwstr>
  </property>
  <property fmtid="{D5CDD505-2E9C-101B-9397-08002B2CF9AE}" pid="5" name="MSIP_Label_7841424d-a56e-4be6-8bd0-627260e09bd6_Name">
    <vt:lpwstr>Intern</vt:lpwstr>
  </property>
  <property fmtid="{D5CDD505-2E9C-101B-9397-08002B2CF9AE}" pid="6" name="MSIP_Label_7841424d-a56e-4be6-8bd0-627260e09bd6_SiteId">
    <vt:lpwstr>3fa3d519-1c0e-4215-9ac3-0f1bdcd9592d</vt:lpwstr>
  </property>
  <property fmtid="{D5CDD505-2E9C-101B-9397-08002B2CF9AE}" pid="7" name="MSIP_Label_7841424d-a56e-4be6-8bd0-627260e09bd6_ActionId">
    <vt:lpwstr>f0ffa944-43d7-4b0d-9ad9-bf3cb1d01b70</vt:lpwstr>
  </property>
  <property fmtid="{D5CDD505-2E9C-101B-9397-08002B2CF9AE}" pid="8" name="MSIP_Label_7841424d-a56e-4be6-8bd0-627260e09bd6_ContentBits">
    <vt:lpwstr>0</vt:lpwstr>
  </property>
  <property fmtid="{D5CDD505-2E9C-101B-9397-08002B2CF9AE}" pid="9" name="MSIP_Label_7841424d-a56e-4be6-8bd0-627260e09bd6_Tag">
    <vt:lpwstr>10, 3, 0, 1</vt:lpwstr>
  </property>
</Properties>
</file>