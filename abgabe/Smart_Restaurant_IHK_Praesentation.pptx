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43859"/>
          </a:solidFill>
          <a:ln w="12700">
            <a:solidFill>
              <a:srgbClr val="1438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IHK-PROJEKTPRÄSENTATION  |  20 MINUTEN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Digitales Bestell- und Verwaltungssystem für eine Gaststätte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Konzeption  •  UML-Prozessanalyse  •  3NF-Datenbank  •  Java 17 &amp; JDBC  •  ISMS (ISO 27001)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645920" cy="868680"/>
          </a:xfrm>
          <a:prstGeom prst="roundRect">
            <a:avLst/>
          </a:prstGeom>
          <a:solidFill>
            <a:srgbClr val="0A2136"/>
          </a:solidFill>
          <a:ln w="15240">
            <a:solidFill>
              <a:srgbClr val="208B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PROJEKTAUWAND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320 Std.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3063240"/>
            <a:ext cx="1645920" cy="868680"/>
          </a:xfrm>
          <a:prstGeom prst="roundRect">
            <a:avLst/>
          </a:prstGeom>
          <a:solidFill>
            <a:srgbClr val="0A2136"/>
          </a:solidFill>
          <a:ln w="15240">
            <a:solidFill>
              <a:srgbClr val="208B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ENTWICKLUNGSDAUER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1460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3063240"/>
            <a:ext cx="1645920" cy="868680"/>
          </a:xfrm>
          <a:prstGeom prst="roundRect">
            <a:avLst/>
          </a:prstGeom>
          <a:solidFill>
            <a:srgbClr val="0A2136"/>
          </a:solidFill>
          <a:ln w="15240">
            <a:solidFill>
              <a:srgbClr val="208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QUALITÄTSQUOTE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 Tests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1887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AUFTRAGNEHMER: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Another Great Solution GmbH
(Projektteam „Der Dreier“)
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AUFTRAGGEBER: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Regionales Gastronomieunternehmen
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
</a:t>
            </a:r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 implementiert &amp; abgenommen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ÜBERBLICK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&amp; Gliederung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2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188720"/>
            <a:ext cx="2468880" cy="640080"/>
          </a:xfrm>
          <a:prstGeom prst="round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234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13533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ca. 6 Minuten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Projektrahmen &amp; Wirtschaftlichkeit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514600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58775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IST-Zustand vs. SOLL-Konzept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990088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0632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Make-or-Buy-Entscheidung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3465576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5387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Phasen- &amp; Ressourcenplanung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" y="3941064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0142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Vollständige Kalkulation (320h)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1887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1188720"/>
            <a:ext cx="2468880" cy="640080"/>
          </a:xfrm>
          <a:prstGeom prst="roundRect">
            <a:avLst/>
          </a:prstGeom>
          <a:solidFill>
            <a:srgbClr val="208B80"/>
          </a:solidFill>
          <a:ln w="12700">
            <a:solidFill>
              <a:srgbClr val="208B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234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343400" y="13533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ca. 7 Minuten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Architektur &amp; Implementierung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2514600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258775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Prozess-Routing &amp; Statuslogik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2990088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30632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Datenbankmodellierung (3NF)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3465576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5387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Transaktionen (ACID) &amp; DAO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3941064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40142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GUI-Design &amp; Usability (ISO 9241)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118872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188720"/>
            <a:ext cx="2468880" cy="64008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12344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49440" y="13533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ca. 7 Minuten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Qualitätssicherung &amp; Projektabschluss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80760" y="2514600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258775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Automatisierte Testsuite (Java)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0760" y="2990088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0632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ISMS &amp; Security (ISO/IEC 27001)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3465576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35387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Soll-Ist-Vergleich (Scope &amp; Budget)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3941064"/>
            <a:ext cx="2194560" cy="384048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40142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Lessons Learned &amp; Ausblick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PROJEKTRAHMEN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Ausgangslage: Problemstellung &amp; Lösungsziel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3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3749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188720"/>
            <a:ext cx="374904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IST-ZUSTAND: Papiergebundene Risiken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1783080"/>
            <a:ext cx="1005840" cy="256032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8196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LESEFEHLER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14400" y="20756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Handschriftliche Bons unleserlich in Küche/Bar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441448"/>
            <a:ext cx="1005840" cy="256032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4780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LAUFWEGE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4400" y="27340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Servicekräfte pendeln manuell zwischen Gast &amp; Küche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3099816"/>
            <a:ext cx="1005840" cy="256032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363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VERZÖGERUNG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4400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der Zubereitung am Gasttisch unbekannt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758184"/>
            <a:ext cx="1005840" cy="256032"/>
          </a:xfrm>
          <a:prstGeom prst="round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94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EINNAHMEVERLUST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14400" y="4050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Verlorene Papierbons führen zu Abrechnungsfehlern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374904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188720"/>
            <a:ext cx="3749040" cy="502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SOLL-KONZEPT: Zentrales Smart Restaurant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783080"/>
            <a:ext cx="1005840" cy="256032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81965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20756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Strukturierte Bestellaufnahme direkt am Terminal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441448"/>
            <a:ext cx="1005840" cy="256032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4780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27340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Trennung für Küche (Speisen) &amp; Bar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099816"/>
            <a:ext cx="1005840" cy="256032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13639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46320" y="3392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Live-Statusanzeige: OFFEN ➔ IN ARBEIT ➔ SERVIERT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758184"/>
            <a:ext cx="1005840" cy="256032"/>
          </a:xfrm>
          <a:prstGeom prst="round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94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46320" y="40507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protokollierte Buchungen &amp; fehlerfreie Rechnung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WIRTSCHAFTLICHKEIT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Make-or-Buy &amp; Betriebskosten-Vergleich (TCO)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4 / 14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78992"/>
          <a:ext cx="768096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Entscheidungskriterium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Eigenentwicklung (Make)  [GEWÄHLT]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8B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Branchen-SaaS (Buy)  [VERWORFEN]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Prozessgenauigkeit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 100 % passgenau auf Arbeitsabläufe zugeschnitten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  Standardisiert; erfordert Anpassung des Betriebs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Laufende Kosten p.a.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(Energie &amp; Lizenzen)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 ca. 443 € / Jahr (ca. 203 € Strom Server/Terminals + 240 € Wartung)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  ca. 2.244 € / Jahr (2.124 € Lizenz-Abo 3 Terminals + 120 € Strom)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Kumulierte TCO (3 Jahre)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 ca. 1.330 € laufend; Amortisation nach 18 Monaten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  ca. 6.732 € kumulierte Abokosten (Vendor-Lock-in)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Datensicherheit (DSGVO)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 Volle Datenhoheit im lokalen Betriebsnetzwerk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  Datenübertragung auf externe Cloud-Server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Erweiterbarkeit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 Offene Schnittstellen für TSE-Kassen &amp; Handhelds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  Abhängig vom Update-Zyklus des Drittanbieters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3611880"/>
            <a:ext cx="7680960" cy="9144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TCO-FAZIT: 1.801 € JÄHRLICHE BETRIEBSKOSTENERSPARNIS GEGENÜBER SAAS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9593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Trotz Initialaufwand amortisiert sich das System schnell: Niedrige Stromkosten (ca. 203 €/Jahr für Server &amp; Terminals) und der Wegfall von monatlichen Lizenzgebühren sparen ab Jahr 4 über 1.800 € pro Jahr ein.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WIRTSCHAFTLICHKEIT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Ressourcen- &amp; Angebotskalkulation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5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078992"/>
            <a:ext cx="3474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Phasenaufteilung (320 Stunden)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329184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Anteil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Aufwand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1: Analyse &amp; Anforderung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 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2: Prozessplanung (UML)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3: DB-Design (3NF)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 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4: Java-Implementierung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50 %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160 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5: Qualitätssicherung &amp; Test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6: Dokumentation &amp; ISMS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25400" marR="25400" marT="12700" marB="127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22960" y="3090672"/>
            <a:ext cx="3291840" cy="1353312"/>
          </a:xfrm>
          <a:prstGeom prst="roundRect">
            <a:avLst/>
          </a:prstGeom>
          <a:solidFill>
            <a:srgbClr val="F0F7FF"/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1546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Sach- &amp; Betriebskosten im Projekt (500 €)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3364992"/>
            <a:ext cx="31089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Stromkosten (4 PCs + Server): 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 kWh à 0,40 € ≈ 28 €
</a:t>
            </a:r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&amp; Rechnerarbeitsplätze: 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172 € (anteilig 10 Tage)
</a:t>
            </a:r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Lizenzen, Diagramm-Tools &amp; Repo: 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150 € + 50 € Ablage
</a:t>
            </a:r>
            <a:pPr indent="0" marL="0">
              <a:buNone/>
            </a:pPr>
            <a:r>
              <a:rPr lang="en-US" sz="72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Unvorhergesehenes &amp; Puffer: </a:t>
            </a:r>
            <a:pPr indent="0" marL="0">
              <a:buNone/>
            </a:pPr>
            <a:r>
              <a:rPr lang="en-US" sz="7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100 €
</a:t>
            </a:r>
            <a:pPr indent="0" marL="0">
              <a:buNone/>
            </a:pPr>
            <a:r>
              <a:rPr lang="en-US" sz="72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Gemeinkosten (2.980 €): </a:t>
            </a:r>
            <a:pPr indent="0" marL="0">
              <a:buNone/>
            </a:pPr>
            <a:r>
              <a:rPr lang="en-US" sz="720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Raummiete, Heizung, Büro-Strom</a:t>
            </a:r>
            <a:endParaRPr lang="en-US" sz="720" dirty="0"/>
          </a:p>
        </p:txBody>
      </p:sp>
      <p:sp>
        <p:nvSpPr>
          <p:cNvPr id="15" name="Shape 12"/>
          <p:cNvSpPr/>
          <p:nvPr/>
        </p:nvSpPr>
        <p:spPr>
          <a:xfrm>
            <a:off x="4389120" y="1078992"/>
            <a:ext cx="40233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Kalkulationsschema (IHK-Zuschlagskalkulation)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63040"/>
          <a:ext cx="3840480" cy="2971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Kostenposition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Berechnungsgrundlage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Betrag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Personalkosten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320 h × 45,00 € Ø Stundensatz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14.400,00 €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Sach- &amp; Betriebskosten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Inkl. Strom (28 €), Hardware &amp; Tools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Herstellkosten (HK)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+ Sachkosten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14.900,00 €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Gemeinkostenzuschlag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+ 20 % (inkl. Raum, Heizung, Energie)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2.980,00 €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Selbstkosten (SK)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HK + Gemeinkosten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17.880,00 €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Gewinnzuschlag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+ 10 % auf Selbstkosten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1.788,00 €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Angebotspreis (Netto)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Selbstkosten + Gewinn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19.668,00 €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Umsatzsteuer (19 %)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Gesetzliche Mehrwertsteuer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3.736,92 €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Angebotspreis (Brutto)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Gesamtangebot für Kunden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23.404,92 €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ENTWURF &amp; IMPLEMENTIERUNG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Geschäftsprozess: Ablauf &amp; Routing-Logik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6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143000"/>
            <a:ext cx="502920" cy="749808"/>
          </a:xfrm>
          <a:prstGeom prst="roundRect">
            <a:avLst/>
          </a:prstGeom>
          <a:solidFill>
            <a:srgbClr val="208B80"/>
          </a:solidFill>
          <a:ln w="12700">
            <a:solidFill>
              <a:srgbClr val="208B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44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12161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Bestellaufnahme am Tisch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325880" y="14721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Auswahl Tisch, Erfassung Speisen &amp; Getränke, Status = "aufgegeben"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31520" y="1984248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1984248"/>
            <a:ext cx="502920" cy="749808"/>
          </a:xfrm>
          <a:prstGeom prst="roundRect">
            <a:avLst/>
          </a:prstGeom>
          <a:solidFill>
            <a:srgbClr val="208B80"/>
          </a:solidFill>
          <a:ln w="12700">
            <a:solidFill>
              <a:srgbClr val="208B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854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Automatisches Routing &amp; Status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325880" y="2313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Trennung nach Kategorie: Küche (Speisen) vs. Bar (Getränke)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1520" y="2825496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825496"/>
            <a:ext cx="502920" cy="749808"/>
          </a:xfrm>
          <a:prstGeom prst="roundRect">
            <a:avLst/>
          </a:prstGeom>
          <a:solidFill>
            <a:srgbClr val="208B80"/>
          </a:solidFill>
          <a:ln w="12700">
            <a:solidFill>
              <a:srgbClr val="208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266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28986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Zubereitung &amp; Quittierung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32588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Küche/Bar setzt Status: "in Bearbeitung" ➔ "fertig"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31520" y="3666744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666744"/>
            <a:ext cx="502920" cy="749808"/>
          </a:xfrm>
          <a:prstGeom prst="roundRect">
            <a:avLst/>
          </a:prstGeom>
          <a:solidFill>
            <a:srgbClr val="208B80"/>
          </a:solidFill>
          <a:ln w="12700">
            <a:solidFill>
              <a:srgbClr val="208B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8679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7398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Servieren &amp; Abrechnung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325880" y="3995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quittiert "serviert"; Tischabrechnung &amp; Freigabe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709160" y="1143000"/>
            <a:ext cx="370332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43000"/>
            <a:ext cx="3703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1252728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4965192" y="1252728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5111496" y="12527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11978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BestellprozessRouting.java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73752" y="1545336"/>
            <a:ext cx="3374136" cy="290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DatabaseManager.java - Status-Routing
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boolean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updateBestellstatus(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bestellungId, String newStatus) {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Validierte Status-Übergänge: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aufgegeben ➔ in Bearbeitung ➔ fertig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sql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"UPDATE bestellung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status = ?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"WHERE bestellung_id = ?";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conn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getConnection();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PreparedStatement pstmt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conn.prepareStatement(sql))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pstmt.setString(1, newStatus);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pstmt.setInt(2, bestellungId);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pstmt.executeUpdate() &gt; 0;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(SQLException e)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DATENBANK-DESIGN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Relationales Datenmodell (3NF) &amp; SQL-DDL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7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024128"/>
            <a:ext cx="2468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6070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1NF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53312" y="10698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Atomare Werte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298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Spalten; keine Aufzählungen.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37560" y="1024128"/>
            <a:ext cx="2468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06070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59352" y="10698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 funktional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298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Teilabhängigkeit vom Primärschlüssel.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0" y="1024128"/>
            <a:ext cx="24688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6070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3NF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65392" y="10698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Transitivfrei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1298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Abhängigkeiten unter Nicht-Schlüsseln.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1719072"/>
            <a:ext cx="37947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1792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Relationales Schema (Kern-Tabellen)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84832"/>
          <a:ext cx="3566160" cy="1874520"/>
        </p:xfrm>
        <a:graphic>
          <a:graphicData uri="http://schemas.openxmlformats.org/drawingml/2006/table">
            <a:tbl>
              <a:tblPr/>
              <a:tblGrid>
                <a:gridCol w="1005840"/>
                <a:gridCol w="411480"/>
                <a:gridCol w="2148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Tabelle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PK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Integritätsregeln &amp; Constraints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mitarbeiter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UNIQUE(login), hash(pw)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tisch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UNIQUE(nummer), status_check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artikel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kategorie_id, preis &gt;= 0.00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bestellung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FK(tisch), FK(mitarbeiter)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bestellpos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FK(bestellung), FK(artikel), menge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841248" y="4078224"/>
            <a:ext cx="3566160" cy="347472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133088"/>
            <a:ext cx="3511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3NF-Vorteil: 0 % Redundanz &amp; keine Update-Anomalien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09160" y="1719072"/>
            <a:ext cx="3703320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1719072"/>
            <a:ext cx="3703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18888" y="1828800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Shape 26"/>
          <p:cNvSpPr/>
          <p:nvPr/>
        </p:nvSpPr>
        <p:spPr>
          <a:xfrm>
            <a:off x="4965192" y="1828800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7"/>
          <p:cNvSpPr/>
          <p:nvPr/>
        </p:nvSpPr>
        <p:spPr>
          <a:xfrm>
            <a:off x="5111496" y="182880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5303520" y="17739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schema_3nf.sql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873752" y="2121408"/>
            <a:ext cx="3374136" cy="2359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bestellposition (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pos_id     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PRIMARY KEY,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bestell_id 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NOT NULL,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artikel_id 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NOT NULL,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menge      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CHECK(menge &gt; 0),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einzelpreis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 NOT NULL,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(bestell_id)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 bestellung(id),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(artikel_id)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 artikel(id)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SOFTWARE-ARCHITEKTUR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17-Architektur: Transaktionskapselung &amp; DAO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8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379476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143000"/>
            <a:ext cx="379476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252728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1252728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12527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1197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OrderTransaction.java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6112" y="1545336"/>
            <a:ext cx="3465576" cy="290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Transaktionssichere Buchung (ACID)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conn.setAutoCommit(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// Start TX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Kopfdatensatz erzeugen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bId = insertBestellung(conn);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Positionen buchen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(Item pos : items)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insertPosition(conn, bId, pos);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Tischstatus ➔ "belegt"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updateTischStatus(conn, tId);
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conn.commit(); 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Atomar gespeichert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(SQLException ex) {
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conn.rollback(); 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Konsistenter Zustand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ex;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370332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143000"/>
            <a:ext cx="3703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1252728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965192" y="1252728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11496" y="12527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1978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DatabaseManager.java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73752" y="1545336"/>
            <a:ext cx="3374136" cy="290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DatabaseManager.java - DAO-Pattern
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List&lt;Bestellung&gt;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getAllBestellungen()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sql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"SELECT b.bestellung_id,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"t.tischnummer, m.name,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"b.status, b.gesamtpreis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"FROM bestellung b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"JOIN tisch t ON b.tisch_id=t.id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"JOIN mitarbeiter m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ON b.erstellt_von=m.id "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 BY b.bestellung_id DESC";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PreparedStatement &amp; AutoClose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conn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getConnection();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Statement stmt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conn.createStatement();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ResultSet rs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stmt.executeQuery(sql))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mapResultSet(rs);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PRAXIS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Benutzeroberfläche &amp; Usability (ISO 9241-110)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9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280160"/>
            <a:ext cx="1097280" cy="237744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075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SERVICE-DESK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Tischplan &amp; Schnellauswahl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Farbliche Tischzustände (Frei/Belegt)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1-Klick-Auswahl zur Bestellaufnahme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Direkte Zuweisung an Bedienung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14300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280160"/>
            <a:ext cx="1097280" cy="237744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3075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STAMMDATEN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Artikel- &amp; Speisekarten-Manager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1031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Kategorien: Vorspeise, Hauptgang, Bar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Echtzeit-Validierung vor Speicherung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Sofortige Verfügbarkeitsumschaltung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114300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280160"/>
            <a:ext cx="1097280" cy="237744"/>
          </a:xfrm>
          <a:prstGeom prst="roundRect">
            <a:avLst/>
          </a:prstGeom>
          <a:solidFill>
            <a:srgbClr val="E0F2FE"/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3075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8076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 &amp; Abrechnung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21031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Übersicht aller aktiven Küchenbons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Summenkalkulation mit MwSt.-Split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Revisionssicherer Rechnungsabschluss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3429000"/>
            <a:ext cx="7680960" cy="10972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547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UMSETZUNG DER ERGONOMIE-GRUNDSÄTZE (DIN EN ISO 9241-110)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8221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Aufgabenangemessenheit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041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Maximal 2 Klicks zur Bestellauslösung im Stoßbetrieb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29000" y="38221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Fehlertoleranz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4041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fängt negative Preise und falsche Typen sofort ab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0" y="38221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Erwartungskonformität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4041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Standardisierte Menüstrukturen und Farbkodierungen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QUALITÄTSMANAGEMENT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Qualitätssicherung &amp; Testcode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10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35661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325880"/>
            <a:ext cx="320040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89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 ERFOLGSQUOTE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Alle CRUD- und Integritätstests fehlerfrei durchlaufen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3383280" cy="2240280"/>
        </p:xfrm>
        <a:graphic>
          <a:graphicData uri="http://schemas.openxmlformats.org/drawingml/2006/table">
            <a:tbl>
              <a:tblPr/>
              <a:tblGrid>
                <a:gridCol w="845820"/>
                <a:gridCol w="845820"/>
                <a:gridCol w="845820"/>
                <a:gridCol w="845820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Testfall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Prüfziel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Ergebnis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TC-01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 Init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PK/FK Validierung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BESTANDEN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Injection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Maskierung Eingaben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BESTANDEN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TC-03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Bestellablauf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Statuswechsel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BESTANDEN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TC-04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Constraint FK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Tisch-Integrität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BESTANDEN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TC-05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Rollback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Abbruch-Sicherheit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BESTANDEN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480560" y="1143000"/>
            <a:ext cx="393192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1143000"/>
            <a:ext cx="39319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90288" y="1252728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4"/>
          <p:cNvSpPr/>
          <p:nvPr/>
        </p:nvSpPr>
        <p:spPr>
          <a:xfrm>
            <a:off x="4736592" y="1252728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5"/>
          <p:cNvSpPr/>
          <p:nvPr/>
        </p:nvSpPr>
        <p:spPr>
          <a:xfrm>
            <a:off x="4882896" y="12527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074920" y="119786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DatabaseTest.java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45152" y="1545336"/>
            <a:ext cx="3602736" cy="290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DatabaseTest.java - Testsuite
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testIntegritaet()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DatabaseManager db = new DatabaseManager();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Test: SQL Injection-Resistenz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inject =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"Gast'; DROP TABLE bestellung;--";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maOk = db.erstelleMitarbeiter(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inject, "hacker", "Service");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maOk :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"Maskierung fehlgeschlagen";
</a:t>
            </a:r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Test: Fremdschlüssel-Prüfung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tischOk = db.tischExistiert(999);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!tischOk :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"Ungültiger FK akzeptiert";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System.out.println("100% Tests OK!");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SICHERHEIT &amp; ISMS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IT-Sicherheit, ISMS &amp; Compliance (ISO 27001)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11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3749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234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A.5 &amp; A.8: Zugriffssteuerung (RBAC)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Rollenmodell: Servicekräfte buchen Tische; Artikelpreise und Stammdaten nur durch Admin editierbar.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2258568"/>
            <a:ext cx="3749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A.8.24: Passwortsicherheit (PBKDF2)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6426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Klartextpasswörter. Kryptographische Salting- und Hashing-Verfahren verhindern Credential-Leaks.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374136"/>
            <a:ext cx="3749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655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A.8.12: Datensicherung &amp; RPO/RTO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7581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Täglicher SQL-Export (smart_restaurant_dump.sql). Wiederanlaufzeit (RTO) unter 60 Minuten gewährleistet.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3749040" cy="3383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43000"/>
            <a:ext cx="374904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252728"/>
            <a:ext cx="100584" cy="1005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9472" y="1252728"/>
            <a:ext cx="100584" cy="1005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065776" y="125272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19786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SecurityUtil.java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8032" y="1545336"/>
            <a:ext cx="3419856" cy="2907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Security-Implementierung (Passwort-Hash)
</a:t>
            </a:r>
            <a:pPr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String 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hashPassword(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pw, byte[] salt) {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KeySpec spec = new PBEKeySpec(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pw.toCharArray(), salt, 65536, 256);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SecretKeyFactory factory = 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SecretKeyFactory.getInstance(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"PBKDF2WithHmacSHA256");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byte[] hash = factory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.generateSecret(spec).getEncoded();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Base64.getEncoder()
</a:t>
            </a:r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.encodeToString(hash);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PROJEKTABSCHLUSS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Soll-Ist-Vergleich &amp; Projektcontrolling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12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FUNKTIONSUMFANG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von 26 Anforderungen erfüllt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11430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ZEITAUFWAND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7560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320 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Tage exakt eingehalten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0" y="11430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2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HERSTELLKOSTEN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14.900 €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Punktlandung im Budgetrahmen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06040"/>
          <a:ext cx="7680960" cy="192024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 (SOLL)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Ist-Ergebnis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Abweichungsursache &amp; Gegenmaßnahme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Swing Table-GUI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 h (+8h)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Tabellen-Renderer komplexer; voll kompensiert durch schnelle DB-Modellierung (-8h).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Qualitätstests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Manuell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Automatisiert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Zusätzlicher Java-Testrunner erstellt ➔ 100% Regressionsschutz ohne Mehrzeit.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Dokumentation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Basisberichte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Fachberichte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Zusätzlich ISMS-Dokumentation (ISO 27001) und Tagebuch nach mdc-Regel gepflegt.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AUSBLICK &amp;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3891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Learned &amp; Zukunftsausblick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896112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54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Restaurant – Digitales Bestell- und Verwaltungssystem  |  IHK-Projektpräsentation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13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3749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Erkenntnisse &amp; Lessons Learned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Parallele Dokumentationsführung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 Führen des Projekttagebuchs parallel zu den Sprints verhinderte Last-Minute-Stress.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Strikte Schichtentrennung (DAO)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8163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Entkopplung von GUI und SQL erlaubte gleichzeitiges Arbeiten an Backend und Frontend.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429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8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Automatisierte Tests ab Tag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36850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Frühzeitige Integritätstests verhinderten logische Datenfehler vor dem GUI-Test.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37490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Erweiterungspotenzial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1691640"/>
            <a:ext cx="777240" cy="219456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1907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715000" y="16733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Kellner-Handhelds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19842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 &amp; Tablet-Interface zur direkten Aufnahme am Gästetisch.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560320"/>
            <a:ext cx="777240" cy="219456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8775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715000" y="2542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KassenSichV &amp; TSE-Hardware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8529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einer zertifizierten Sicherheitseinrichtung für Belege.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3429000"/>
            <a:ext cx="777240" cy="219456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5643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15000" y="3410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Küchen-Monitor-System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7216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Touchscreen-Terminals für Köche mit Farbstatus und akustischem Signal.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8B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PROJEKTABSCHLUSS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Vielen Dank für Ihre Aufmerksamkeit!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 freuen uns auf Ihre Fragen im IHK-Fachgespräch.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6949440" cy="1874520"/>
          </a:xfrm>
          <a:prstGeom prst="roundRect">
            <a:avLst/>
          </a:prstGeom>
          <a:solidFill>
            <a:srgbClr val="0A2136"/>
          </a:solidFill>
          <a:ln w="15240">
            <a:solidFill>
              <a:srgbClr val="208B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432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Vollständige Projektdokumentation liegt vor: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3063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Projekttagebuch (chronologisch nach mdc-Regel)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33192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Entwicklerdokumentation (Java 17, Swing, SQL &amp; Tests)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357530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Benutzerdokumentation &amp; Rollenhandbuch (Gastronomie)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383133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ISMS-Systemdokumentation (ISO/IEC 27001 &amp; DSGVO)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408736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SQL-Datenbankdump &amp; Automatisierte Testsuite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0" y="4754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Seite 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Another Great Solution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Restaurant - IHK Projektpräsentation</dc:title>
  <dc:subject>Digitales Bestell- und Verwaltungssystem</dc:subject>
  <dc:creator>Another Great Solution GmbH (Team Der Dreier)</dc:creator>
  <cp:lastModifiedBy>Another Great Solution GmbH (Team Der Dreier)</cp:lastModifiedBy>
  <cp:revision>1</cp:revision>
  <dcterms:created xsi:type="dcterms:W3CDTF">2026-10-06T10:15:05Z</dcterms:created>
  <dcterms:modified xsi:type="dcterms:W3CDTF">2026-10-06T10:15:05Z</dcterms:modified>
</cp:coreProperties>
</file>